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5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74519"/>
            <a:ext cx="1005840" cy="22860"/>
          </a:xfrm>
          <a:prstGeom prst="rect">
            <a:avLst/>
          </a:prstGeom>
          <a:solidFill>
            <a:srgbClr val="FED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FED175"/>
                </a:solidFill>
                <a:latin typeface="Georgia"/>
              </a:rPr>
              <a:t>መካነ ሰላም ሰንበት ትምህርት ቤት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0" i="0">
                <a:solidFill>
                  <a:srgbClr val="FFFFFF"/>
                </a:solidFill>
                <a:latin typeface="Georgia"/>
              </a:rPr>
              <a:t>A complete digital home for the</a:t>
            </a:r>
          </a:p>
          <a:p>
            <a:pPr algn="l">
              <a:lnSpc>
                <a:spcPct val="110000"/>
              </a:lnSpc>
            </a:pPr>
            <a:r>
              <a:rPr sz="4400" b="0" i="0">
                <a:solidFill>
                  <a:srgbClr val="FFFFFF"/>
                </a:solidFill>
                <a:latin typeface="Georgia"/>
              </a:rPr>
              <a:t>Sunday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D5DCEC"/>
                </a:solidFill>
                <a:latin typeface="Calibri"/>
              </a:rPr>
              <a:t>Public website, registration system and school management portal,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D5DCEC"/>
                </a:solidFill>
                <a:latin typeface="Calibri"/>
              </a:rPr>
              <a:t>built as one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ED175"/>
                </a:solidFill>
                <a:latin typeface="Calibri"/>
              </a:rPr>
              <a:t>mekaneselamss.com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6357E"/>
                </a:solidFill>
                <a:latin typeface="Georgia"/>
              </a:rPr>
              <a:t>One system, three jobs.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65960"/>
            <a:ext cx="3429000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2331720"/>
            <a:ext cx="457200" cy="228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57E"/>
                </a:solidFill>
                <a:latin typeface="Georgia"/>
              </a:rPr>
              <a:t>The public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0040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What visitors and families see: the school, the programmes, the building campaign, events and news. Fully bilingual, Amharic 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965960"/>
            <a:ext cx="3429000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00600" y="2331720"/>
            <a:ext cx="457200" cy="228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560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57E"/>
                </a:solidFill>
                <a:latin typeface="Georgia"/>
              </a:rPr>
              <a:t>The registration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20040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People sign up online for any programme. Every submission lands in the admin panel to be reviewed, accepted or declined. No paper, no lost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65960"/>
            <a:ext cx="3429000" cy="3063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331720"/>
            <a:ext cx="457200" cy="228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57E"/>
                </a:solidFill>
                <a:latin typeface="Georgia"/>
              </a:rPr>
              <a:t>The management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Where the school actually runs: students, classes, attendance, grades, payments, homework and announcements, each role seeing only what belongs to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4A5161"/>
                </a:solidFill>
                <a:latin typeface="Calibri"/>
              </a:rPr>
              <a:t>All three share one database, so a registration becomes a student, and a student carries grades, attendance and payments.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HOW IT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6357E"/>
                </a:solidFill>
                <a:latin typeface="Georgia"/>
              </a:rPr>
              <a:t>The technology, plainly.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FRONT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18013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6357E"/>
                </a:solidFill>
                <a:latin typeface="Calibri"/>
              </a:rPr>
              <a:t>Hand-written HTML, CSS and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80136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No heavy framework. Pages load fast on slow connections and cheap phones.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49424"/>
            <a:ext cx="10469880" cy="9525"/>
          </a:xfrm>
          <a:prstGeom prst="rect">
            <a:avLst/>
          </a:prstGeom>
          <a:solidFill>
            <a:srgbClr val="D8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BACK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36829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6357E"/>
                </a:solidFill>
                <a:latin typeface="Calibri"/>
              </a:rPr>
              <a:t>PHP 8, no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368296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Plain, readable code. Any PHP developer can pick it up without learning our tooling.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816352"/>
            <a:ext cx="10469880" cy="9525"/>
          </a:xfrm>
          <a:prstGeom prst="rect">
            <a:avLst/>
          </a:prstGeom>
          <a:solidFill>
            <a:srgbClr val="D8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62656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93522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6357E"/>
                </a:solidFill>
                <a:latin typeface="Calibri"/>
              </a:rPr>
              <a:t>MySQL / MariaDB, 42 tables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935224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One source of truth for people, classes, grades, payments and registrations.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383280"/>
            <a:ext cx="10469880" cy="9525"/>
          </a:xfrm>
          <a:prstGeom prst="rect">
            <a:avLst/>
          </a:prstGeom>
          <a:solidFill>
            <a:srgbClr val="D8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29584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HOSTING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50215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6357E"/>
                </a:solidFill>
                <a:latin typeface="Calibri"/>
              </a:rPr>
              <a:t>Standard cPanel shared hosting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502152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Cheap, ordinary hosting. No cloud bill, no vendor lock-in.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950208"/>
            <a:ext cx="10469880" cy="9525"/>
          </a:xfrm>
          <a:prstGeom prst="rect">
            <a:avLst/>
          </a:prstGeom>
          <a:solidFill>
            <a:srgbClr val="D8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096512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069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6357E"/>
                </a:solidFill>
                <a:latin typeface="Calibri"/>
              </a:rPr>
              <a:t>Git, deployed from the control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069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Every change is versioned. Database changes apply through a single guarded step.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517136"/>
            <a:ext cx="10469880" cy="9525"/>
          </a:xfrm>
          <a:prstGeom prst="rect">
            <a:avLst/>
          </a:prstGeom>
          <a:solidFill>
            <a:srgbClr val="D8D4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634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DEPENDENCIES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63600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16357E"/>
                </a:solidFill>
                <a:latin typeface="Calibri"/>
              </a:rPr>
              <a:t>None to 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636008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No package manager, no build step. This is why it will still run in five years.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150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4A5161"/>
                </a:solidFill>
                <a:latin typeface="Calibri"/>
              </a:rPr>
              <a:t>Roughly 21,000 lines of our own code across 233 files. Deliberately boring technology, chosen so the school owns it outright.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5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ED175"/>
                </a:solidFill>
                <a:latin typeface="Calibri"/>
              </a:rPr>
              <a:t>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FFFFFF"/>
                </a:solidFill>
                <a:latin typeface="Georgia"/>
              </a:rPr>
              <a:t>Five kinds of account.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5CFE6"/>
                </a:solidFill>
                <a:latin typeface="Calibri"/>
              </a:rPr>
              <a:t>Everyone signs in to the same place and sees only their own part of the school.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3429000" cy="1691640"/>
          </a:xfrm>
          <a:prstGeom prst="roundRect">
            <a:avLst>
              <a:gd name="adj" fmla="val 4500"/>
            </a:avLst>
          </a:prstGeom>
          <a:solidFill>
            <a:srgbClr val="2F52A6"/>
          </a:solidFill>
          <a:ln w="9525">
            <a:solidFill>
              <a:srgbClr val="2F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ED175"/>
                </a:solidFill>
                <a:latin typeface="Georgia"/>
              </a:rPr>
              <a:t>Administrator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644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5DCEC"/>
                </a:solidFill>
                <a:latin typeface="Calibri"/>
              </a:rPr>
              <a:t>Runs the whole system: people, classes, terms, payments, settings and oversight.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514600"/>
            <a:ext cx="3429000" cy="1691640"/>
          </a:xfrm>
          <a:prstGeom prst="roundRect">
            <a:avLst>
              <a:gd name="adj" fmla="val 4500"/>
            </a:avLst>
          </a:prstGeom>
          <a:solidFill>
            <a:srgbClr val="2F52A6"/>
          </a:solidFill>
          <a:ln w="9525">
            <a:solidFill>
              <a:srgbClr val="2F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278892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ED175"/>
                </a:solidFill>
                <a:latin typeface="Georgia"/>
              </a:rPr>
              <a:t>Department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2644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5DCEC"/>
                </a:solidFill>
                <a:latin typeface="Calibri"/>
              </a:rPr>
              <a:t>Manages their own department: members, announcements, events and its registration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514600"/>
            <a:ext cx="3429000" cy="1691640"/>
          </a:xfrm>
          <a:prstGeom prst="roundRect">
            <a:avLst>
              <a:gd name="adj" fmla="val 4500"/>
            </a:avLst>
          </a:prstGeom>
          <a:solidFill>
            <a:srgbClr val="2F52A6"/>
          </a:solidFill>
          <a:ln w="9525">
            <a:solidFill>
              <a:srgbClr val="2F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78892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ED175"/>
                </a:solidFill>
                <a:latin typeface="Georgia"/>
              </a:rPr>
              <a:t>Teacher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264408"/>
            <a:ext cx="2788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5DCEC"/>
                </a:solidFill>
                <a:latin typeface="Calibri"/>
              </a:rPr>
              <a:t>Their classes only: attendance, grades, homework and resources.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5257800" cy="1691640"/>
          </a:xfrm>
          <a:prstGeom prst="roundRect">
            <a:avLst>
              <a:gd name="adj" fmla="val 4500"/>
            </a:avLst>
          </a:prstGeom>
          <a:solidFill>
            <a:srgbClr val="2F52A6"/>
          </a:solidFill>
          <a:ln w="9525">
            <a:solidFill>
              <a:srgbClr val="2F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70916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ED175"/>
                </a:solidFill>
                <a:latin typeface="Georgia"/>
              </a:rPr>
              <a:t>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84648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5DCEC"/>
                </a:solidFill>
                <a:latin typeface="Calibri"/>
              </a:rPr>
              <a:t>Their own attendance, grades, homework and payment balance.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434840"/>
            <a:ext cx="5257800" cy="1691640"/>
          </a:xfrm>
          <a:prstGeom prst="roundRect">
            <a:avLst>
              <a:gd name="adj" fmla="val 4500"/>
            </a:avLst>
          </a:prstGeom>
          <a:solidFill>
            <a:srgbClr val="2F52A6"/>
          </a:solidFill>
          <a:ln w="9525">
            <a:solidFill>
              <a:srgbClr val="2F52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709160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ED175"/>
                </a:solidFill>
                <a:latin typeface="Georgia"/>
              </a:rPr>
              <a:t>Parent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184648"/>
            <a:ext cx="4617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D5DCEC"/>
                </a:solidFill>
                <a:latin typeface="Calibri"/>
              </a:rPr>
              <a:t>A read-only window onto their own children, and nobody else’s.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6357E"/>
                </a:solidFill>
                <a:latin typeface="Georgia"/>
              </a:rPr>
              <a:t>What the system does.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2578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148840"/>
            <a:ext cx="457200" cy="228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57E"/>
                </a:solidFill>
                <a:latin typeface="Georgia"/>
              </a:rPr>
              <a:t>For families and visitors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971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9718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Bilingual website, Amharic by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4290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Online registration for every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8862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Events with venue, details and posters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3434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43434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Announcements and news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006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8006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Building campaign and giving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257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52578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YouTube and TikTok feeds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2148840"/>
            <a:ext cx="457200" cy="228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57E"/>
                </a:solidFill>
                <a:latin typeface="Georgia"/>
              </a:rPr>
              <a:t>For teaching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71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9718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Students, classes and graded levels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4290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Attendance roll-call, per class or department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8862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Grades, report cards and finalisation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3434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43434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Homework and assignments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8006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48006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Teaching resources per grade and department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257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52578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Curriculum subjects per level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6357E"/>
                </a:solidFill>
                <a:latin typeface="Georgia"/>
              </a:rPr>
              <a:t>Running the school.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2578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2148840"/>
            <a:ext cx="457200" cy="228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57E"/>
                </a:solidFill>
                <a:latin typeface="Georgia"/>
              </a:rPr>
              <a:t>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971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29718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Departments as self-running sub-organisations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34290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Payments, balances and bulk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38862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Academic terms and holiday 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3434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43434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Eligibility rules for advancement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8006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48006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Notifications by role, class or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257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52578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Full audit log of who changed what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5257800" cy="42062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2148840"/>
            <a:ext cx="457200" cy="22860"/>
          </a:xfrm>
          <a:prstGeom prst="rect">
            <a:avLst/>
          </a:prstGeom>
          <a:solidFill>
            <a:srgbClr val="C9A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6357E"/>
                </a:solidFill>
                <a:latin typeface="Georgia"/>
              </a:rPr>
              <a:t>Built in from the 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971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29718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Every page in Amharic and English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290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34290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Ethiopian calendar and Ethiopian clock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862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8862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Passwords hashed, never stored in the 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3434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6872" y="43434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Every database query parameterised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8006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48006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Permission checked on every private page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5257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5257800"/>
            <a:ext cx="4297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161"/>
                </a:solidFill>
                <a:latin typeface="Calibri"/>
              </a:rPr>
              <a:t>Works on a phone as well as a laptop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9A14A"/>
                </a:solidFill>
                <a:latin typeface="Calibri"/>
              </a:rPr>
              <a:t>WHERE WE 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0" i="0">
                <a:solidFill>
                  <a:srgbClr val="16357E"/>
                </a:solidFill>
                <a:latin typeface="Georgia"/>
              </a:rPr>
              <a:t>Live today.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342900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C9A14A"/>
                </a:solidFill>
                <a:latin typeface="Georgia"/>
              </a:rPr>
              <a:t>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974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The public site is online at mekaneselamss.com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42900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21031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C9A14A"/>
                </a:solidFill>
                <a:latin typeface="Georgia"/>
              </a:rPr>
              <a:t>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6974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Online registration is accepting submissions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429000" cy="17830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8D4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1031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0" i="0">
                <a:solidFill>
                  <a:srgbClr val="C9A14A"/>
                </a:solidFill>
                <a:latin typeface="Georgia"/>
              </a:rPr>
              <a:t>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6974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A5161"/>
                </a:solidFill>
                <a:latin typeface="Calibri"/>
              </a:rPr>
              <a:t>All five portals are built and in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16357E"/>
                </a:solidFill>
                <a:latin typeface="Georgia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526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5161"/>
                </a:solidFill>
                <a:latin typeface="Calibri"/>
              </a:rPr>
              <a:t>Move registrations through to enrolled students in one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1032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91032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5161"/>
                </a:solidFill>
                <a:latin typeface="Calibri"/>
              </a:rPr>
              <a:t>Payment tracking hardened and reconciled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9437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529437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5161"/>
                </a:solidFill>
                <a:latin typeface="Calibri"/>
              </a:rPr>
              <a:t>Report cards issued from the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7842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C9A14A"/>
                </a:solidFill>
                <a:latin typeface="Calibri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567842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5161"/>
                </a:solidFill>
                <a:latin typeface="Calibri"/>
              </a:rPr>
              <a:t>Photographs and posters attached to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5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377440"/>
            <a:ext cx="1005840" cy="22860"/>
          </a:xfrm>
          <a:prstGeom prst="rect">
            <a:avLst/>
          </a:prstGeom>
          <a:solidFill>
            <a:srgbClr val="FED1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974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FFFFFF"/>
                </a:solidFill>
                <a:latin typeface="Georgia"/>
              </a:rPr>
              <a:t>Built for the school,</a:t>
            </a:r>
          </a:p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FFFFFF"/>
                </a:solidFill>
                <a:latin typeface="Georgia"/>
              </a:rPr>
              <a:t>owned by the school.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434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D5DCEC"/>
                </a:solidFill>
                <a:latin typeface="Calibri"/>
              </a:rPr>
              <a:t>Ordinary hosting, no licence fees, no dependency on any one supplier.</a:t>
            </a:r>
          </a:p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D5DCEC"/>
                </a:solidFill>
                <a:latin typeface="Calibri"/>
              </a:rPr>
              <a:t>The code and the data belong to Mekane Selam.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521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FED175"/>
                </a:solidFill>
                <a:latin typeface="Calibri"/>
              </a:rPr>
              <a:t>mekaneselamss.com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